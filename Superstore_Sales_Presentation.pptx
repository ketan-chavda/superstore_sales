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16265A"/>
          </a:solidFill>
          <a:ln w="12700">
            <a:solidFill>
              <a:srgbClr val="1626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274320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286000"/>
            <a:ext cx="274320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Business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Report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  ·  DAX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788920"/>
            <a:ext cx="54864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4370832"/>
            <a:ext cx="1920240" cy="685800"/>
          </a:xfrm>
          <a:prstGeom prst="rect">
            <a:avLst/>
          </a:prstGeom>
          <a:solidFill>
            <a:srgbClr val="1A2F6B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50592" y="4370832"/>
            <a:ext cx="1920240" cy="685800"/>
          </a:xfrm>
          <a:prstGeom prst="rect">
            <a:avLst/>
          </a:prstGeom>
          <a:solidFill>
            <a:srgbClr val="1A2F6B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50592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81144" y="4370832"/>
            <a:ext cx="1920240" cy="685800"/>
          </a:xfrm>
          <a:prstGeom prst="rect">
            <a:avLst/>
          </a:prstGeom>
          <a:solidFill>
            <a:srgbClr val="1A2F6B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81144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11696" y="4370832"/>
            <a:ext cx="1920240" cy="685800"/>
          </a:xfrm>
          <a:prstGeom prst="rect">
            <a:avLst/>
          </a:prstGeom>
          <a:solidFill>
            <a:srgbClr val="1A2F6B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4407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11696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Ketan Chavda  |  github.com/Ketan-Chavda/Superstore_Sales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analytics stack on US Retail Superstore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65176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(EDA)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09728" cy="10972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05840"/>
            <a:ext cx="26517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 Queries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17830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Business Queries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37744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Aggregation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97180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Rankings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56616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05840"/>
            <a:ext cx="26517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78308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23774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DAX Measures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29718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926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Pages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356616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520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Filters (Year/Category)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9,994 orders | 21 features | US Superstore 2014–2017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all years and segments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601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9601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051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12527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" y="1709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+18% vs prior year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95728" y="9601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9601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051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12527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32888" y="1709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+14% vs prior year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90288" y="9601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9601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051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7448" y="12527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27448" y="1709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Below 15% target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84848" y="9601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9601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22008" y="10515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22008" y="12527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22008" y="1709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+12% vs prior year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01168" y="27889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27889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2880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" y="3081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$229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38328" y="3538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years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95728" y="27889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95728" y="27889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2880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32888" y="3081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532888" y="3538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$725K | 14.9% margin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90288" y="27889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90288" y="27889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2880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Sub-Cat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27448" y="3081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27448" y="3538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–$17.7K net loss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84848" y="2788920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84848" y="2788920"/>
            <a:ext cx="64008" cy="1463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28803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Margin Sub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22008" y="30815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22008" y="35387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 profit margin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of Superstore Dataset.ipynb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393192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87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99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1399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in cleaned CSV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74520"/>
            <a:ext cx="393192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01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1901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 IDs removed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3774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4048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→ datetime64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393192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07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2907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%, Ship Duration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3832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10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&gt; 50% identified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960120"/>
            <a:ext cx="4434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960120"/>
            <a:ext cx="44348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987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EDA Findings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144475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0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revenue; Office Supplies leads volume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17720" y="20116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Trap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&gt;40% → systematically negative profit margins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17720" y="257860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920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peak every year — holiday purchasing pattern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17720" y="31455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9200" y="3145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&amp; Dallas: high sales, negative profit (Texas risk)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17720" y="371246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29200" y="3712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= 60% of orders; Same Day = Corporate segment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Business Queries &amp; Top Customers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Superstore_Queries.sql — Structured profitability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78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978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978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978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978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344168"/>
            <a:ext cx="8686800" cy="310896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3624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45920" y="1362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80360" y="1362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0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$25,043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94960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–$1,981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46520" y="1362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–7.9%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1673352"/>
            <a:ext cx="8686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6916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4592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Tamara Chand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8036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$19,052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9496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$8,981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1691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002536"/>
            <a:ext cx="8686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020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2020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Buch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80360" y="2020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0" y="2020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$15,117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94960" y="2020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$6,976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46520" y="2020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46.1%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2331720"/>
            <a:ext cx="8686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23500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4592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Ashbrook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80360" y="23500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8912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$14,595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9496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$4,037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4652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8600" y="2660904"/>
            <a:ext cx="8686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26791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45920" y="2679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Barton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880360" y="2679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8912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$14,474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39496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$5,444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4652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2990088"/>
            <a:ext cx="8686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0083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645920" y="3008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Lonsdale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880360" y="3008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8912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$13,941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39496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$4,969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4652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3319272"/>
            <a:ext cx="8686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" y="333756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64592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Sanjit Chand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88036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38912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$13,769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39496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$5,757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446520" y="3337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28600" y="3648456"/>
            <a:ext cx="8686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366674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645920" y="3666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Lopez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880360" y="3666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389120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$12,873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94960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$5,201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446520" y="3666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40.4%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28600" y="3977640"/>
            <a:ext cx="8686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" y="3995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645920" y="3995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Sanjit Engle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880360" y="3995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38912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$12,209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39496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$2,520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44652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28600" y="4306824"/>
            <a:ext cx="8686800" cy="31089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8600" y="43251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64592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Conant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880360" y="4325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389120" y="4325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$12,109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394960" y="4325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$4,386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446520" y="4325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28600" y="4590288"/>
            <a:ext cx="868680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Profit Paradox: Sean Miller (#1 by revenue) holds a –7.9% margin — the core insight driving discount reform recommendations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aggregations by geography and product category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&amp; Profit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362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362456"/>
            <a:ext cx="29260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362456"/>
            <a:ext cx="29260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13624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20640" y="13624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14.9%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12264"/>
            <a:ext cx="29260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2112264"/>
            <a:ext cx="2750515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112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$679K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2112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13.5%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2862072"/>
            <a:ext cx="29260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862072"/>
            <a:ext cx="1580083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2862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$392K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2862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11.9%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3611880"/>
            <a:ext cx="29260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611880"/>
            <a:ext cx="2018995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$501K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7.9%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297680"/>
            <a:ext cx="8686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Profitability Highlights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1298448"/>
            <a:ext cx="2880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133502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1335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15179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$55.6K profit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55280" y="1335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$55.6K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1773936"/>
            <a:ext cx="2880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181051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18105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19933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$44.5K profit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55280" y="18105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$44.5K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2249424"/>
            <a:ext cx="2880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228600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22860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24688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$34.1K profit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55280" y="2286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0" y="2724912"/>
            <a:ext cx="288036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276148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0" y="27614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29443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$30.2K profit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55280" y="27614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$30.2K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3200400"/>
            <a:ext cx="2880360" cy="402336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2369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0" y="32369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0" y="341985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–$17.7K profit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955280" y="32369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–$17.7K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43600" y="3675888"/>
            <a:ext cx="2880360" cy="402336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16752" y="37124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400800" y="3712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38953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–$3.5K profit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955280" y="37124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–$3.5K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Interactive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PowerBI.pbix · DAX measures &amp; drill-through pages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41148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87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DAX Measures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581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SUM(Orders[Sales])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901952"/>
            <a:ext cx="41148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9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112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SUM(Orders[Profit])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642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DIVIDE([Profit],[Sales])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962656"/>
            <a:ext cx="41148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900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1729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DISTINCTCOUNT(Orders[Order ID])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4930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20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DIVIDE([Total Sales],[Order Count])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023360"/>
            <a:ext cx="4114800" cy="47548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([CY Sales]–[PY Sales])/[PY Sales]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96012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960120"/>
            <a:ext cx="42976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9875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Dashboard Pages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17720" y="1371600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41732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66360" y="1444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Year &amp; Category slicers, Sales trend 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2176272"/>
            <a:ext cx="4297680" cy="731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22199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66360" y="22494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Deep-Dive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table, Order Count, Profit Margin % column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17720" y="2980944"/>
            <a:ext cx="42976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02666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66360" y="30540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filled map colored by margin; bubble = order volume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17720" y="3785616"/>
            <a:ext cx="4297680" cy="73152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383133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66360" y="3858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by Sub-Category, waterfall chart by category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Python + SQL + Power BI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73152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515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Profit Paradox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134416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(#1 by revenue, –7.9% margin). Deep discounting is the root cause. Governance policy needed.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0515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Regional Disparity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34416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margin (7.9%) is nearly half of West (14.9%). Furniture-heavy mix in Central is the structural driver.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258568"/>
            <a:ext cx="4206240" cy="118872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58568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3500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Furniture Is Loss-Making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2642616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(–$17.7K) and Bookcases (–$3.5K) are the only sub-categories with negative profit. Price floors required.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58568"/>
            <a:ext cx="420624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58568"/>
            <a:ext cx="73152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3500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Loyalty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2642616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revenue have surprisingly low repeat order counts — prime candidates for subscription/volume tiers.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557016"/>
            <a:ext cx="4206240" cy="1188720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557016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6484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Q4 Opportunity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" y="3941064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Q4 spike every year. Pre-positioning inventory by September can capture significant incremental revenue.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557016"/>
            <a:ext cx="4206240" cy="1188720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557016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6484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Texas Risk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3941064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&amp; Dallas show high sales but negative profit. Discount audits for Texas sales reps recommended urgently.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derived from cross-tool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64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 ·  Ketan Chavda  ·  2024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87552"/>
            <a:ext cx="50292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875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1078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Governance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335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individual discounts at 30%. Require manager approval above threshold. Reduce Sean Miller-type scenarios.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187452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874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87552"/>
            <a:ext cx="50292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98755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10789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Loss-Making SKUs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335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Discontinue or renegotiate supplier pricing for Tables sub-category. Set minimum price floors for Bookcases.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57800" y="1874520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874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8600" y="224942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249424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2494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Turnaround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5968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Central promotional focus from Furniture to Technology. Re-evaluate discount strategy for Texas cities.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" y="3136392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136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24942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249424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24942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57800" y="2340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25968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volume-discount tiers for Top 20 customers. Corporate subscription model for high-revenue repeat buyers.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57800" y="3136392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136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28600" y="351129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511296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351129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2960" y="3602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Pre-Positioning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3858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and marketing spend ahead of Q4 (by September). Launch early-bird promotions for Technology.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22960" y="4398264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4398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63440" y="351129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511296"/>
            <a:ext cx="50292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351129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57800" y="36027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Automation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858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Power BI dataset refresh on new order data. Add alert rules for margin drops below regional thresholds.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257800" y="4398264"/>
            <a:ext cx="1097280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398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82312"/>
            <a:ext cx="9144000" cy="365760"/>
          </a:xfrm>
          <a:prstGeom prst="rect">
            <a:avLst/>
          </a:prstGeom>
          <a:solidFill>
            <a:srgbClr val="16265A"/>
          </a:solidFill>
          <a:ln w="12700">
            <a:solidFill>
              <a:srgbClr val="162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· ANALYTICS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— Python · SQL · Power BI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691640" cy="914400"/>
          </a:xfrm>
          <a:prstGeom prst="rect">
            <a:avLst/>
          </a:prstGeom>
          <a:solidFill>
            <a:srgbClr val="16265A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2788920"/>
            <a:ext cx="1691640" cy="914400"/>
          </a:xfrm>
          <a:prstGeom prst="rect">
            <a:avLst/>
          </a:prstGeom>
          <a:solidFill>
            <a:srgbClr val="16265A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834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1691640" cy="914400"/>
          </a:xfrm>
          <a:prstGeom prst="rect">
            <a:avLst/>
          </a:prstGeom>
          <a:solidFill>
            <a:srgbClr val="16265A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834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9400" y="2788920"/>
            <a:ext cx="1691640" cy="914400"/>
          </a:xfrm>
          <a:prstGeom prst="rect">
            <a:avLst/>
          </a:prstGeom>
          <a:solidFill>
            <a:srgbClr val="16265A"/>
          </a:solidFill>
          <a:ln w="12700">
            <a:solidFill>
              <a:srgbClr val="334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8346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Tools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310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Ketan Chavda  ·  github.com/Ketan-Chavda/Superstore_Sales  · 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| SQL | Power BI | DAX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</dc:title>
  <dc:subject>PptxGenJS Presentation</dc:subject>
  <dc:creator>PptxGenJS</dc:creator>
  <cp:lastModifiedBy>PptxGenJS</cp:lastModifiedBy>
  <cp:revision>1</cp:revision>
  <dcterms:created xsi:type="dcterms:W3CDTF">2026-03-16T19:57:08Z</dcterms:created>
  <dcterms:modified xsi:type="dcterms:W3CDTF">2026-03-16T19:57:08Z</dcterms:modified>
</cp:coreProperties>
</file>